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Treated</c:v>
                </c:pt>
              </c:strCache>
            </c:strRef>
          </c:tx>
          <c:spPr>
            <a:solidFill>
              <a:srgbClr val="0D6B7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28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Medicare FFS</c:v>
                </c:pt>
                <c:pt idx="1">
                  <c:v>Medicare Adv</c:v>
                </c:pt>
                <c:pt idx="2">
                  <c:v>NONGROUP</c:v>
                </c:pt>
                <c:pt idx="3">
                  <c:v>ESI</c:v>
                </c:pt>
                <c:pt idx="4">
                  <c:v>MEDICAID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89.2</c:v>
                </c:pt>
                <c:pt idx="1">
                  <c:v>88.2</c:v>
                </c:pt>
                <c:pt idx="2">
                  <c:v>85.3</c:v>
                </c:pt>
                <c:pt idx="3">
                  <c:v>84.6</c:v>
                </c:pt>
                <c:pt idx="4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AC-4E96-93A5-FF0AF968BC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Follow-Up</c:v>
                </c:pt>
              </c:strCache>
            </c:strRef>
          </c:tx>
          <c:spPr>
            <a:solidFill>
              <a:srgbClr val="A3D8D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28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Medicare FFS</c:v>
                </c:pt>
                <c:pt idx="1">
                  <c:v>Medicare Adv</c:v>
                </c:pt>
                <c:pt idx="2">
                  <c:v>NONGROUP</c:v>
                </c:pt>
                <c:pt idx="3">
                  <c:v>ESI</c:v>
                </c:pt>
                <c:pt idx="4">
                  <c:v>MEDICAID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73.2</c:v>
                </c:pt>
                <c:pt idx="1">
                  <c:v>72.5</c:v>
                </c:pt>
                <c:pt idx="2">
                  <c:v>56.1</c:v>
                </c:pt>
                <c:pt idx="3">
                  <c:v>59.8</c:v>
                </c:pt>
                <c:pt idx="4">
                  <c:v>56.1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DAC-4E96-93A5-FF0AF968BC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8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Treated</c:v>
                </c:pt>
              </c:strCache>
            </c:strRef>
          </c:tx>
          <c:spPr>
            <a:solidFill>
              <a:srgbClr val="0D6B7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28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OOP
($230 avg)</c:v>
                </c:pt>
                <c:pt idx="1">
                  <c:v>Medium OOP
($1,331 avg)</c:v>
                </c:pt>
                <c:pt idx="2">
                  <c:v>High OOP
($6,668 avg)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80.5</c:v>
                </c:pt>
                <c:pt idx="1">
                  <c:v>91.1</c:v>
                </c:pt>
                <c:pt idx="2">
                  <c:v>91.4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F0-4D2B-B882-E2D88A31B8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Follow-Up</c:v>
                </c:pt>
              </c:strCache>
            </c:strRef>
          </c:tx>
          <c:spPr>
            <a:solidFill>
              <a:srgbClr val="A3D8D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28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OOP
($230 avg)</c:v>
                </c:pt>
                <c:pt idx="1">
                  <c:v>Medium OOP
($1,331 avg)</c:v>
                </c:pt>
                <c:pt idx="2">
                  <c:v>High OOP
($6,668 avg)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54.9</c:v>
                </c:pt>
                <c:pt idx="1">
                  <c:v>74.7</c:v>
                </c:pt>
                <c:pt idx="2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F0-4D2B-B882-E2D88A31B8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8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Follow-Up</c:v>
                </c:pt>
              </c:strCache>
            </c:strRef>
          </c:tx>
          <c:spPr>
            <a:solidFill>
              <a:srgbClr val="0D6B7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28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00-18</c:v>
                </c:pt>
                <c:pt idx="1">
                  <c:v>19-34</c:v>
                </c:pt>
                <c:pt idx="2">
                  <c:v>35-44</c:v>
                </c:pt>
                <c:pt idx="3">
                  <c:v>45-64</c:v>
                </c:pt>
                <c:pt idx="4">
                  <c:v>65+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35.6</c:v>
                </c:pt>
                <c:pt idx="1">
                  <c:v>43.4</c:v>
                </c:pt>
                <c:pt idx="2">
                  <c:v>49.3</c:v>
                </c:pt>
                <c:pt idx="3">
                  <c:v>61.8</c:v>
                </c:pt>
                <c:pt idx="4">
                  <c:v>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64-4594-B070-91156CDF5B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8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Follow-Up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28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SOUTH</c:v>
                </c:pt>
                <c:pt idx="1">
                  <c:v>MIDWEST</c:v>
                </c:pt>
                <c:pt idx="2">
                  <c:v>NOREAST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68.099999999999994</c:v>
                </c:pt>
                <c:pt idx="1">
                  <c:v>67.7</c:v>
                </c:pt>
                <c:pt idx="2">
                  <c:v>66.400000000000006</c:v>
                </c:pt>
                <c:pt idx="3">
                  <c:v>63.5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61-40ED-B2D7-13F663F9D9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8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  <c:min val="55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Follow-Up</c:v>
                </c:pt>
              </c:strCache>
            </c:strRef>
          </c:tx>
          <c:spPr>
            <a:solidFill>
              <a:srgbClr val="0D6B7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28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Below 138%</c:v>
                </c:pt>
                <c:pt idx="1">
                  <c:v>138-250%</c:v>
                </c:pt>
                <c:pt idx="2">
                  <c:v>250-400%</c:v>
                </c:pt>
                <c:pt idx="3">
                  <c:v>Above 400%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57.8</c:v>
                </c:pt>
                <c:pt idx="1">
                  <c:v>54.8</c:v>
                </c:pt>
                <c:pt idx="2">
                  <c:v>59.2</c:v>
                </c:pt>
                <c:pt idx="3">
                  <c:v>69.599999999999994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1F-4265-9C3F-635C440D30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8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4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Follow-Up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9C8-46FA-9D30-DBB9D2DEDBE1}"/>
              </c:ext>
            </c:extLst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9C8-46FA-9D30-DBB9D2DEDBE1}"/>
              </c:ext>
            </c:extLst>
          </c:dPt>
          <c:dPt>
            <c:idx val="2"/>
            <c:invertIfNegative val="0"/>
            <c:bubble3D val="0"/>
            <c:spPr>
              <a:solidFill>
                <a:srgbClr val="F0A5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9C8-46FA-9D30-DBB9D2DEDBE1}"/>
              </c:ext>
            </c:extLst>
          </c:dPt>
          <c:dPt>
            <c:idx val="3"/>
            <c:invertIfNegative val="0"/>
            <c:bubble3D val="0"/>
            <c:spPr>
              <a:solidFill>
                <a:srgbClr val="1E84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9C8-46FA-9D30-DBB9D2DEDBE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28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 Comorbid</c:v>
                </c:pt>
                <c:pt idx="1">
                  <c:v>1 Comorbid</c:v>
                </c:pt>
                <c:pt idx="2">
                  <c:v>2 Comorbid</c:v>
                </c:pt>
                <c:pt idx="3">
                  <c:v>3 Comorbid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55.7</c:v>
                </c:pt>
                <c:pt idx="1">
                  <c:v>64.7</c:v>
                </c:pt>
                <c:pt idx="2">
                  <c:v>72.7</c:v>
                </c:pt>
                <c:pt idx="3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9C8-46FA-9D30-DBB9D2DEDB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8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4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199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6B77"/>
          </a:solidFill>
          <a:ln w="12700">
            <a:solidFill>
              <a:srgbClr val="0D6B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8961120" cy="64008"/>
          </a:xfrm>
          <a:prstGeom prst="rect">
            <a:avLst/>
          </a:prstGeom>
          <a:solidFill>
            <a:srgbClr val="0D6B77"/>
          </a:solidFill>
          <a:ln w="12700">
            <a:solidFill>
              <a:srgbClr val="0D6B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94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Patient Care Funnel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66420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3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3 T2DM Patients Fails to Complete Follow-Up Care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A3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Insurance Type, Cost Exposure, Income, and Age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2633472"/>
            <a:ext cx="2743200" cy="0"/>
          </a:xfrm>
          <a:prstGeom prst="line">
            <a:avLst/>
          </a:prstGeom>
          <a:noFill/>
          <a:ln w="381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85292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Dhairya Lunia  |  MILI 6963 Healthcare Analytics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Minnesota, Carlson School  |  May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3749040"/>
            <a:ext cx="2011680" cy="1115568"/>
          </a:xfrm>
          <a:prstGeom prst="rect">
            <a:avLst/>
          </a:prstGeom>
          <a:solidFill>
            <a:srgbClr val="0D6B77"/>
          </a:solidFill>
          <a:ln w="12700">
            <a:solidFill>
              <a:srgbClr val="0D6B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38221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22,989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4320" y="44074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T2DM Patients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50592" y="3749040"/>
            <a:ext cx="2011680" cy="1115568"/>
          </a:xfrm>
          <a:prstGeom prst="rect">
            <a:avLst/>
          </a:prstGeom>
          <a:solidFill>
            <a:srgbClr val="0D6B77"/>
          </a:solidFill>
          <a:ln w="12700">
            <a:solidFill>
              <a:srgbClr val="0D6B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38221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86.7%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50592" y="44074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Treatment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26864" y="3749040"/>
            <a:ext cx="2011680" cy="1115568"/>
          </a:xfrm>
          <a:prstGeom prst="rect">
            <a:avLst/>
          </a:prstGeom>
          <a:solidFill>
            <a:srgbClr val="0D6B77"/>
          </a:solidFill>
          <a:ln w="12700">
            <a:solidFill>
              <a:srgbClr val="0D6B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38221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66.9%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26864" y="44074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Follow-Up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03136" y="3749040"/>
            <a:ext cx="2011680" cy="1115568"/>
          </a:xfrm>
          <a:prstGeom prst="rect">
            <a:avLst/>
          </a:prstGeom>
          <a:solidFill>
            <a:srgbClr val="0D6B77"/>
          </a:solidFill>
          <a:ln w="12700">
            <a:solidFill>
              <a:srgbClr val="0D6B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03136" y="38221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33.1%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03136" y="44074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Drop-Off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2014 Uni_USA Synthetic Claims  |  Pop.-Weighted  |  All 5 Insurance Segments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CARE FUNNEL  |  OVERALL RESULTS  |  N = 22,989 T2DM Patients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621792"/>
            <a:ext cx="7772400" cy="1005840"/>
          </a:xfrm>
          <a:prstGeom prst="rect">
            <a:avLst/>
          </a:prstGeom>
          <a:solidFill>
            <a:srgbClr val="0D6B77"/>
          </a:solidFill>
          <a:ln w="12700">
            <a:solidFill>
              <a:srgbClr val="0D6B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676656"/>
            <a:ext cx="5596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Diagnosed with T2DM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95528" y="1097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22,989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949440" y="713232"/>
            <a:ext cx="1371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463040" y="1920240"/>
            <a:ext cx="6217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72768" y="1975104"/>
            <a:ext cx="447690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Received Treatment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572768" y="2395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19,939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59398" y="2011680"/>
            <a:ext cx="138440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86.7%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" y="219456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13.3% did not proceed to treatment</a:t>
            </a:r>
            <a:endParaRPr lang="en-US" sz="1000" b="1" dirty="0"/>
          </a:p>
        </p:txBody>
      </p:sp>
      <p:sp>
        <p:nvSpPr>
          <p:cNvPr id="13" name="Shape 11"/>
          <p:cNvSpPr/>
          <p:nvPr/>
        </p:nvSpPr>
        <p:spPr>
          <a:xfrm>
            <a:off x="2194560" y="3218688"/>
            <a:ext cx="4754880" cy="10058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04288" y="3273552"/>
            <a:ext cx="34235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Had Follow-Up Care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304288" y="36941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15,422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394960" y="3310128"/>
            <a:ext cx="1417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66.9%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5719" y="3493008"/>
            <a:ext cx="166350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22.7% of treated had no follow-up</a:t>
            </a:r>
            <a:endParaRPr lang="en-US" sz="1000" b="1" dirty="0"/>
          </a:p>
        </p:txBody>
      </p:sp>
      <p:sp>
        <p:nvSpPr>
          <p:cNvPr id="18" name="Shape 16"/>
          <p:cNvSpPr/>
          <p:nvPr/>
        </p:nvSpPr>
        <p:spPr>
          <a:xfrm>
            <a:off x="274320" y="4526280"/>
            <a:ext cx="8595360" cy="502920"/>
          </a:xfrm>
          <a:prstGeom prst="rect">
            <a:avLst/>
          </a:prstGeom>
          <a:solidFill>
            <a:srgbClr val="FEF9E7"/>
          </a:solidFill>
          <a:ln w="254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590288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33.1% cumulative drop-off — roughly 1 in 3 diagnosed T2DM patients does not complete follow-up care.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CONTINUITY BY INSURANCE TYPE  |  Medicare Leads; Medicaid Trails by 17 Points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594360"/>
          <a:ext cx="58521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594360"/>
            <a:ext cx="2560320" cy="4160520"/>
          </a:xfrm>
          <a:prstGeom prst="rect">
            <a:avLst/>
          </a:prstGeom>
          <a:solidFill>
            <a:srgbClr val="F4F6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46520" y="6675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6B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46520" y="1078992"/>
            <a:ext cx="237744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0" y="1124712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903720" y="1170432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FFS &amp; Adv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follow-up: 73%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mgmt + chronic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infrastructure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46520" y="2267712"/>
            <a:ext cx="237744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2313432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903720" y="2359152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Medicaid &amp; NONGROUP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at 56.1%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barriers 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cost-sharing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46520" y="3456432"/>
            <a:ext cx="237744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3502152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903720" y="3547872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ESI: 59.8% follow-up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of pack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best coverage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446520" y="44577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17pp gap: Medicare vs Medicaid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EXPOSURE  |  Counter-Intuitive: Higher OOP = Better Follow-Up (Care Engagement Effect)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594360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658368"/>
            <a:ext cx="3017520" cy="987552"/>
          </a:xfrm>
          <a:prstGeom prst="rect">
            <a:avLst/>
          </a:prstGeom>
          <a:solidFill>
            <a:srgbClr val="636E72"/>
          </a:solidFill>
          <a:ln w="12700">
            <a:solidFill>
              <a:srgbClr val="636E7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61888" y="72237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OOP Drop-Off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675120" y="97840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45.1%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852160" y="1828800"/>
            <a:ext cx="3017520" cy="9875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61888" y="18928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OOP Drop-Off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675120" y="2178031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25.3%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5852160" y="2999232"/>
            <a:ext cx="3017520" cy="9875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61888" y="3063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OOP Drop-Off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675120" y="331927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21.0%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852160" y="4160520"/>
            <a:ext cx="3017520" cy="594360"/>
          </a:xfrm>
          <a:prstGeom prst="rect">
            <a:avLst/>
          </a:prstGeom>
          <a:solidFill>
            <a:srgbClr val="D6EAF8"/>
          </a:solidFill>
          <a:ln w="12700">
            <a:solidFill>
              <a:srgbClr val="0D6B7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42062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INCOME tells the real story: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400% FPL → 69.6% FU vs 138-250% FPL → 54.8%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 BY AGE GROUP AND REGION  |  Clear Age Gradient; Modest Regional Variation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5760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B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Age Group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14400"/>
          <a:ext cx="42062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709160" y="5760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B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Census Region</a:t>
            </a:r>
            <a:endParaRPr lang="en-US" sz="13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709160" y="914400"/>
          <a:ext cx="42062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274320" y="486460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gradient: 64.4% drop-off (00-18) → 27.0% (65+)  |  Region range: 4.6pp — modest vs. age and insurance effects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FINDINGS  |  Income Barriers &amp; Comorbidity Paradox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5760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B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Level (% FPL)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14400"/>
          <a:ext cx="42062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224528"/>
            <a:ext cx="4206240" cy="566928"/>
          </a:xfrm>
          <a:prstGeom prst="rect">
            <a:avLst/>
          </a:prstGeom>
          <a:solidFill>
            <a:srgbClr val="EBF5FB"/>
          </a:solidFill>
          <a:ln w="12700">
            <a:solidFill>
              <a:srgbClr val="0D6B7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27024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14.8pp gap: Above 400% FPL (69.6%) vs 138-250% FPL (54.8%) — coverage cliff effect for near-poor patients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709160" y="5760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B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Comorbidity Paradox</a:t>
            </a:r>
            <a:endParaRPr lang="en-US" sz="13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709160" y="914400"/>
          <a:ext cx="42062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4709160" y="4224528"/>
            <a:ext cx="4206240" cy="566928"/>
          </a:xfrm>
          <a:prstGeom prst="rect">
            <a:avLst/>
          </a:prstGeom>
          <a:solidFill>
            <a:srgbClr val="FDFEFE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00600" y="427024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Sicker patients have BETTER follow-up. Newly diagnosed T2DM with NO other conditions is the highest-risk group for disengagement.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6B77"/>
          </a:solidFill>
          <a:ln w="12700">
            <a:solidFill>
              <a:srgbClr val="0D6B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3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POLICY IMPLICATIONS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6B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502920" cy="1828800"/>
          </a:xfrm>
          <a:prstGeom prst="rect">
            <a:avLst/>
          </a:prstGeom>
          <a:solidFill>
            <a:srgbClr val="0D6B77"/>
          </a:solidFill>
          <a:ln w="12700">
            <a:solidFill>
              <a:srgbClr val="0D6B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344168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60120" y="850392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3 Patients Drop Off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1252728"/>
            <a:ext cx="34015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33.1% cumulative drop-off among 22,989 T2DM patients. Biggest gap is between treatment and follow-up (22.7% of treated patients don't return).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36592" y="777240"/>
            <a:ext cx="411480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36592" y="777240"/>
            <a:ext cx="502920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344168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30952" y="850392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Leads; Medicaid Trails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30952" y="1252728"/>
            <a:ext cx="34015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17pp gap between Medicare (73%) and Medicaid (56%). Care management infrastructure and provider access drive the difference, not cost-sharing.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11480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34640"/>
            <a:ext cx="502920" cy="1828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401568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60120" y="2907792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Not OOP, Is the Barrier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" y="3310128"/>
            <a:ext cx="34015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OOP patients have better follow-up (care engagement effect). But low-income patients at 138-250% FPL have worst rates — the coverage cliff.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36592" y="2834640"/>
            <a:ext cx="411480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36592" y="2834640"/>
            <a:ext cx="502920" cy="1828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401568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330952" y="2907792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Young Adults &amp; No-Comorbid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30952" y="3310128"/>
            <a:ext cx="34015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19-34: 56.6% drop-off. Zero-comorbidity T2DM patients: 44.3% drop-off. These groups need proactive outreach, not reactive care.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2014 Uni_USA Synthetic Claims  |  MILI 6963 Healthcare Analytics, University of Minnesota  |  Population-Weighted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534</Words>
  <Application>Microsoft Office PowerPoint</Application>
  <PresentationFormat>On-screen Show (16:9)</PresentationFormat>
  <Paragraphs>83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Patient Care Funnel</dc:title>
  <dc:subject>PptxGenJS Presentation</dc:subject>
  <dc:creator>PptxGenJS</dc:creator>
  <cp:lastModifiedBy>Dhairya Lunia</cp:lastModifiedBy>
  <cp:revision>3</cp:revision>
  <dcterms:created xsi:type="dcterms:W3CDTF">2026-05-04T23:54:42Z</dcterms:created>
  <dcterms:modified xsi:type="dcterms:W3CDTF">2026-05-05T00:02:11Z</dcterms:modified>
</cp:coreProperties>
</file>